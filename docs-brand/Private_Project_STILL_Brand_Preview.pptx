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778240" y="0"/>
            <a:ext cx="3413455" cy="6858000"/>
          </a:xfrm>
          <a:prstGeom prst="rect">
            <a:avLst/>
          </a:prstGeom>
          <a:solidFill>
            <a:srgbClr val="15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20040"/>
            <a:ext cx="12191695" cy="27432"/>
          </a:xfrm>
          <a:prstGeom prst="rect">
            <a:avLst/>
          </a:prstGeom>
          <a:solidFill>
            <a:srgbClr val="71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05840"/>
            <a:ext cx="7132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BAD2FF"/>
                </a:solidFill>
                <a:latin typeface="Aptos Display"/>
              </a:rPr>
              <a:t>PROJECT STILL</a:t>
            </a:r>
          </a:p>
          <a:p>
            <a:pPr>
              <a:spcBef>
                <a:spcPts val="600"/>
              </a:spcBef>
            </a:pPr>
            <a:r>
              <a:rPr sz="3400" b="1">
                <a:solidFill>
                  <a:srgbClr val="F5F6F8"/>
                </a:solidFill>
                <a:latin typeface="Aptos Display"/>
              </a:rPr>
              <a:t>PRIVATE LAUNCH PREVIEW</a:t>
            </a:r>
          </a:p>
          <a:p>
            <a:pPr>
              <a:spcBef>
                <a:spcPts val="1600"/>
              </a:spcBef>
            </a:pPr>
            <a:r>
              <a:rPr sz="1800">
                <a:solidFill>
                  <a:srgbClr val="AAB0BA"/>
                </a:solidFill>
                <a:latin typeface="Aptos"/>
              </a:rPr>
              <a:t>Premium reliability-first connectivity brand
for homes, hospitality, and spaces that cannot afford friction.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1097280"/>
            <a:ext cx="2103120" cy="3383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</a:pPr>
            <a:r>
              <a:rPr sz="1600" b="1">
                <a:solidFill>
                  <a:srgbClr val="F5F6F8"/>
                </a:solidFill>
                <a:latin typeface="Aptos"/>
              </a:rPr>
              <a:t>Private strategy preview</a:t>
            </a:r>
          </a:p>
          <a:p>
            <a:pPr>
              <a:spcAft>
                <a:spcPts val="1800"/>
              </a:spcAft>
            </a:pPr>
            <a:r>
              <a:rPr sz="1400" b="0">
                <a:solidFill>
                  <a:srgbClr val="AAB0BA"/>
                </a:solidFill>
                <a:latin typeface="Aptos"/>
              </a:rPr>
              <a:t>Research-backed</a:t>
            </a:r>
          </a:p>
          <a:p>
            <a:pPr>
              <a:spcAft>
                <a:spcPts val="1800"/>
              </a:spcAft>
            </a:pPr>
            <a:r>
              <a:rPr sz="1400" b="0">
                <a:solidFill>
                  <a:srgbClr val="AAB0BA"/>
                </a:solidFill>
                <a:latin typeface="Aptos"/>
              </a:rPr>
              <a:t>Wi-Fi 7 now / Wi-Fi 8 path</a:t>
            </a:r>
          </a:p>
          <a:p>
            <a:pPr>
              <a:spcAft>
                <a:spcPts val="1800"/>
              </a:spcAft>
            </a:pPr>
            <a:r>
              <a:rPr sz="1400" b="0">
                <a:solidFill>
                  <a:srgbClr val="AAB0BA"/>
                </a:solidFill>
                <a:latin typeface="Aptos"/>
              </a:rPr>
              <a:t>Positioning, services, site,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217920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B0BA"/>
                </a:solidFill>
                <a:latin typeface="Aptos"/>
              </a:rPr>
              <a:t>Confidential draft — prepared for internal review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778240" y="0"/>
            <a:ext cx="3413455" cy="6858000"/>
          </a:xfrm>
          <a:prstGeom prst="rect">
            <a:avLst/>
          </a:prstGeom>
          <a:solidFill>
            <a:srgbClr val="15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20040"/>
            <a:ext cx="12191695" cy="27432"/>
          </a:xfrm>
          <a:prstGeom prst="rect">
            <a:avLst/>
          </a:prstGeom>
          <a:solidFill>
            <a:srgbClr val="71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7589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6F8"/>
                </a:solidFill>
                <a:latin typeface="Aptos Display"/>
              </a:rPr>
              <a:t>The market signal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AAB0BA"/>
                </a:solidFill>
                <a:latin typeface="Aptos"/>
              </a:rPr>
              <a:t>The real shift is from speed theatre to reliability, roaming quality, and stable real-world performance.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093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AAB0BA"/>
                </a:solidFill>
                <a:latin typeface="Aptos"/>
              </a:rPr>
              <a:t>Sources: Express, TP-Link, Qualcomm, WBA, Wi-Fi Alliance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7498079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F5F6F8"/>
                </a:solidFill>
                <a:latin typeface="Aptos"/>
              </a:rPr>
              <a:t>The current story is not “mass Wi-Fi 8 domination today.” It is a market pivot toward consistency, lower latency, better roaming, and cleaner performance in dense real spaces.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5F6F8"/>
                </a:solidFill>
                <a:latin typeface="Aptos"/>
              </a:rPr>
              <a:t>TP-Link publicly frames Archer 8 around “real-world reliability,” not only peak theoretical speed.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5F6F8"/>
                </a:solidFill>
                <a:latin typeface="Aptos"/>
              </a:rPr>
              <a:t>Qualcomm frames Wi-Fi 8 as broader connectivity infrastructure for late-2026 commercial products.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5F6F8"/>
                </a:solidFill>
                <a:latin typeface="Aptos"/>
              </a:rPr>
              <a:t>WBA says Wi-Fi 7 is scaling hard now, while Wi-Fi 8 remains in an early prototype and chipset-announcement phase.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52560" y="1143000"/>
            <a:ext cx="2560320" cy="4297680"/>
          </a:xfrm>
          <a:prstGeom prst="roundRect">
            <a:avLst/>
          </a:prstGeom>
          <a:solidFill>
            <a:srgbClr val="1A202C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0" y="1417320"/>
            <a:ext cx="201168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i="1">
                <a:solidFill>
                  <a:srgbClr val="BAD2FF"/>
                </a:solidFill>
                <a:latin typeface="Aptos"/>
              </a:rPr>
              <a:t>“The next generation of Wi‑Fi must move beyond peak theoretical speed and focus on improving reliability under real-world conditions.”</a:t>
            </a:r>
          </a:p>
          <a:p>
            <a:pPr>
              <a:spcBef>
                <a:spcPts val="1200"/>
              </a:spcBef>
            </a:pPr>
            <a:r>
              <a:rPr sz="1000">
                <a:solidFill>
                  <a:srgbClr val="AAB0BA"/>
                </a:solidFill>
                <a:latin typeface="Aptos"/>
              </a:rPr>
              <a:t>TP-Link, May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778240" y="0"/>
            <a:ext cx="3413455" cy="6858000"/>
          </a:xfrm>
          <a:prstGeom prst="rect">
            <a:avLst/>
          </a:prstGeom>
          <a:solidFill>
            <a:srgbClr val="15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20040"/>
            <a:ext cx="12191695" cy="27432"/>
          </a:xfrm>
          <a:prstGeom prst="rect">
            <a:avLst/>
          </a:prstGeom>
          <a:solidFill>
            <a:srgbClr val="71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7589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6F8"/>
                </a:solidFill>
                <a:latin typeface="Aptos Display"/>
              </a:rPr>
              <a:t>What is verified so far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AAB0BA"/>
                </a:solidFill>
                <a:latin typeface="Aptos"/>
              </a:rPr>
              <a:t>Use the verified layer as the public truth base. Keep strategic extrapolation separate.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093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AAB0BA"/>
                </a:solidFill>
                <a:latin typeface="Aptos"/>
              </a:rPr>
              <a:t>Sources: TP-Link press release, Qualcomm press release, WBA, Wi-Fi Alliance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7680960" cy="4389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F5F6F8"/>
                </a:solidFill>
                <a:latin typeface="Aptos"/>
              </a:rPr>
              <a:t>TP-Link announced Archer 8 on 28 May 2026 as its first Wi-Fi 8 router platform, with launch scheduled for October 2026.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5F6F8"/>
                </a:solidFill>
                <a:latin typeface="Aptos"/>
              </a:rPr>
              <a:t>Qualcomm announced a Wi-Fi 8 portfolio on 1 March 2026, with customers sampling now and commercial products expected in late 2026.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5F6F8"/>
                </a:solidFill>
                <a:latin typeface="Aptos"/>
              </a:rPr>
              <a:t>WBA states Wi‑Fi 7 access point shipments are forecast to reach 117.9 million in 2026, while Wi‑Fi 8 remains early.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5F6F8"/>
                </a:solidFill>
                <a:latin typeface="Aptos"/>
              </a:rPr>
              <a:t>Wi‑Fi Alliance positions Wi‑Fi 7 around multi-link operation, lower latency, greater reliability, and higher throughput.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52560" y="1143000"/>
            <a:ext cx="2560320" cy="4297680"/>
          </a:xfrm>
          <a:prstGeom prst="roundRect">
            <a:avLst/>
          </a:prstGeom>
          <a:solidFill>
            <a:srgbClr val="1A202C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0" y="1417320"/>
            <a:ext cx="201168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i="1">
                <a:solidFill>
                  <a:srgbClr val="BAD2FF"/>
                </a:solidFill>
                <a:latin typeface="Aptos"/>
              </a:rPr>
              <a:t>“Wi‑Fi 8 will not be finalized for several years, while Wi‑Fi 7 adoption accelerates.”</a:t>
            </a:r>
          </a:p>
          <a:p>
            <a:pPr>
              <a:spcBef>
                <a:spcPts val="1200"/>
              </a:spcBef>
            </a:pPr>
            <a:r>
              <a:rPr sz="1000">
                <a:solidFill>
                  <a:srgbClr val="AAB0BA"/>
                </a:solidFill>
                <a:latin typeface="Aptos"/>
              </a:rPr>
              <a:t>WBA, Jan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778240" y="0"/>
            <a:ext cx="3413455" cy="6858000"/>
          </a:xfrm>
          <a:prstGeom prst="rect">
            <a:avLst/>
          </a:prstGeom>
          <a:solidFill>
            <a:srgbClr val="15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20040"/>
            <a:ext cx="12191695" cy="27432"/>
          </a:xfrm>
          <a:prstGeom prst="rect">
            <a:avLst/>
          </a:prstGeom>
          <a:solidFill>
            <a:srgbClr val="71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463040"/>
            <a:ext cx="7680960" cy="3657600"/>
          </a:xfrm>
          <a:prstGeom prst="roundRect">
            <a:avLst/>
          </a:prstGeom>
          <a:solidFill>
            <a:srgbClr val="10141D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0116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BAD2FF"/>
                </a:solidFill>
                <a:latin typeface="Aptos"/>
              </a:rPr>
              <a:t>PRIVATE PREVIEW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560320"/>
            <a:ext cx="64922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6F8"/>
                </a:solidFill>
                <a:latin typeface="Aptos Display"/>
              </a:rPr>
              <a:t>The brand we should 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840480"/>
            <a:ext cx="6035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AAB0BA"/>
                </a:solidFill>
                <a:latin typeface="Aptos"/>
              </a:rPr>
              <a:t>Minimal launch-deck style for a premium reliability-first connectivity brand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778240" y="0"/>
            <a:ext cx="3413455" cy="6858000"/>
          </a:xfrm>
          <a:prstGeom prst="rect">
            <a:avLst/>
          </a:prstGeom>
          <a:solidFill>
            <a:srgbClr val="15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20040"/>
            <a:ext cx="12191695" cy="27432"/>
          </a:xfrm>
          <a:prstGeom prst="rect">
            <a:avLst/>
          </a:prstGeom>
          <a:solidFill>
            <a:srgbClr val="71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7589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6F8"/>
                </a:solidFill>
                <a:latin typeface="Aptos Display"/>
              </a:rPr>
              <a:t>Brand positioning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AAB0BA"/>
                </a:solidFill>
                <a:latin typeface="Aptos"/>
              </a:rPr>
              <a:t>Do not sell “a router.” Sell calm, invisible, premium connectivity.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093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AAB0BA"/>
                </a:solidFill>
                <a:latin typeface="Aptos"/>
              </a:rPr>
              <a:t>Internal positioning recommendation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7589520" cy="4389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F5F6F8"/>
                </a:solidFill>
                <a:latin typeface="Aptos"/>
              </a:rPr>
              <a:t>Category: Invisible premium connectivity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F5F6F8"/>
                </a:solidFill>
                <a:latin typeface="Aptos"/>
              </a:rPr>
              <a:t>Promise: Every room, every device, every moment — calm, stable, seamless connectivity.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F5F6F8"/>
                </a:solidFill>
                <a:latin typeface="Aptos"/>
              </a:rPr>
              <a:t>Positioning line: We do not sell routers. We design confidence.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F5F6F8"/>
                </a:solidFill>
                <a:latin typeface="Aptos"/>
              </a:rPr>
              <a:t>Launch frame: Wi‑Fi 7 now. Wi‑Fi 8-ready path when ecosystem maturity and hardware timing align.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52560" y="1143000"/>
            <a:ext cx="2560320" cy="4297680"/>
          </a:xfrm>
          <a:prstGeom prst="roundRect">
            <a:avLst/>
          </a:prstGeom>
          <a:solidFill>
            <a:srgbClr val="1A202C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0" y="1417320"/>
            <a:ext cx="201168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i="1">
                <a:solidFill>
                  <a:srgbClr val="BAD2FF"/>
                </a:solidFill>
                <a:latin typeface="Aptos"/>
              </a:rPr>
              <a:t>“Private. Stable. Seamless.
A luxury infrastructure brand, not a gadget brand.”</a:t>
            </a:r>
          </a:p>
          <a:p>
            <a:pPr>
              <a:spcBef>
                <a:spcPts val="1200"/>
              </a:spcBef>
            </a:pPr>
            <a:r>
              <a:rPr sz="1000">
                <a:solidFill>
                  <a:srgbClr val="AAB0BA"/>
                </a:solidFill>
                <a:latin typeface="Aptos"/>
              </a:rPr>
              <a:t>Internal brand direction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778240" y="0"/>
            <a:ext cx="3413455" cy="6858000"/>
          </a:xfrm>
          <a:prstGeom prst="rect">
            <a:avLst/>
          </a:prstGeom>
          <a:solidFill>
            <a:srgbClr val="15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20040"/>
            <a:ext cx="12191695" cy="27432"/>
          </a:xfrm>
          <a:prstGeom prst="rect">
            <a:avLst/>
          </a:prstGeom>
          <a:solidFill>
            <a:srgbClr val="71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7589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6F8"/>
                </a:solidFill>
                <a:latin typeface="Aptos Display"/>
              </a:rPr>
              <a:t>Best entry segments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AAB0BA"/>
                </a:solidFill>
                <a:latin typeface="Aptos"/>
              </a:rPr>
              <a:t>Start where connectivity failure feels expensive.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093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AAB0BA"/>
                </a:solidFill>
                <a:latin typeface="Aptos"/>
              </a:rPr>
              <a:t>Internal segmentation recommendation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5212080" cy="4389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F5F6F8"/>
                </a:solidFill>
                <a:latin typeface="Aptos"/>
              </a:rPr>
              <a:t>Luxury homes and villas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F5F6F8"/>
                </a:solidFill>
                <a:latin typeface="Aptos"/>
              </a:rPr>
              <a:t>Boutique hotels and private hospitality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F5F6F8"/>
                </a:solidFill>
                <a:latin typeface="Aptos"/>
              </a:rPr>
              <a:t>Executive offices and members clubs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F5F6F8"/>
                </a:solidFill>
                <a:latin typeface="Aptos"/>
              </a:rPr>
              <a:t>Private clinics and high-end studios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F5F6F8"/>
                </a:solidFill>
                <a:latin typeface="Aptos"/>
              </a:rPr>
              <a:t>Premium restaurants, showrooms, and event spaces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52560" y="1143000"/>
            <a:ext cx="2560320" cy="4297680"/>
          </a:xfrm>
          <a:prstGeom prst="roundRect">
            <a:avLst/>
          </a:prstGeom>
          <a:solidFill>
            <a:srgbClr val="1A202C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0" y="1417320"/>
            <a:ext cx="201168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i="1">
                <a:solidFill>
                  <a:srgbClr val="BAD2FF"/>
                </a:solidFill>
                <a:latin typeface="Aptos"/>
              </a:rPr>
              <a:t>“These buyers purchase discretion, quality, appearance, continuity, and trust — not specs per dollar.”</a:t>
            </a:r>
          </a:p>
          <a:p>
            <a:pPr>
              <a:spcBef>
                <a:spcPts val="1200"/>
              </a:spcBef>
            </a:pPr>
            <a:r>
              <a:rPr sz="1000">
                <a:solidFill>
                  <a:srgbClr val="AAB0BA"/>
                </a:solidFill>
                <a:latin typeface="Aptos"/>
              </a:rPr>
              <a:t>Commercial rationale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778240" y="0"/>
            <a:ext cx="3413455" cy="6858000"/>
          </a:xfrm>
          <a:prstGeom prst="rect">
            <a:avLst/>
          </a:prstGeom>
          <a:solidFill>
            <a:srgbClr val="15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20040"/>
            <a:ext cx="12191695" cy="27432"/>
          </a:xfrm>
          <a:prstGeom prst="rect">
            <a:avLst/>
          </a:prstGeom>
          <a:solidFill>
            <a:srgbClr val="71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7589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6F8"/>
                </a:solidFill>
                <a:latin typeface="Aptos Display"/>
              </a:rPr>
              <a:t>Flagship services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AAB0BA"/>
                </a:solidFill>
                <a:latin typeface="Aptos"/>
              </a:rPr>
              <a:t>Build a premium service ladder before going broad on hardware.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093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AAB0BA"/>
                </a:solidFill>
                <a:latin typeface="Aptos"/>
              </a:rPr>
              <a:t>Internal service architecture recommendation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7498079" cy="4389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F5F6F8"/>
                </a:solidFill>
                <a:latin typeface="Aptos"/>
              </a:rPr>
              <a:t>Private Connectivity Blueprint — paid assessment and design brief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5F6F8"/>
                </a:solidFill>
                <a:latin typeface="Aptos"/>
              </a:rPr>
              <a:t>Residence / Venue Design — room-by-room wireless plan and concealment strategy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5F6F8"/>
                </a:solidFill>
                <a:latin typeface="Aptos"/>
              </a:rPr>
              <a:t>Seamless Guest Access — premium guest experience and frictionless onboarding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5F6F8"/>
                </a:solidFill>
                <a:latin typeface="Aptos"/>
              </a:rPr>
              <a:t>Concierge Care — silent monitoring, tuning, seasonal refresh, and support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5F6F8"/>
                </a:solidFill>
                <a:latin typeface="Aptos"/>
              </a:rPr>
              <a:t>Upgrade Path Membership — Wi‑Fi 7 optimisation now, Wi‑Fi 8 readiness later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52560" y="1143000"/>
            <a:ext cx="2560320" cy="4297680"/>
          </a:xfrm>
          <a:prstGeom prst="roundRect">
            <a:avLst/>
          </a:prstGeom>
          <a:solidFill>
            <a:srgbClr val="1A202C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0" y="1417320"/>
            <a:ext cx="201168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i="1">
                <a:solidFill>
                  <a:srgbClr val="BAD2FF"/>
                </a:solidFill>
                <a:latin typeface="Aptos"/>
              </a:rPr>
              <a:t>“Own the high-margin experience layer first. Hardware should support the story, not define it.”</a:t>
            </a:r>
          </a:p>
          <a:p>
            <a:pPr>
              <a:spcBef>
                <a:spcPts val="1200"/>
              </a:spcBef>
            </a:pPr>
            <a:r>
              <a:rPr sz="1000">
                <a:solidFill>
                  <a:srgbClr val="AAB0BA"/>
                </a:solidFill>
                <a:latin typeface="Aptos"/>
              </a:rPr>
              <a:t>Commercial logic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778240" y="0"/>
            <a:ext cx="3413455" cy="6858000"/>
          </a:xfrm>
          <a:prstGeom prst="rect">
            <a:avLst/>
          </a:prstGeom>
          <a:solidFill>
            <a:srgbClr val="15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20040"/>
            <a:ext cx="12191695" cy="27432"/>
          </a:xfrm>
          <a:prstGeom prst="rect">
            <a:avLst/>
          </a:prstGeom>
          <a:solidFill>
            <a:srgbClr val="71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7589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6F8"/>
                </a:solidFill>
                <a:latin typeface="Aptos Display"/>
              </a:rPr>
              <a:t>Seamless guest access is a premium differentiator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AAB0BA"/>
                </a:solidFill>
                <a:latin typeface="Aptos"/>
              </a:rPr>
              <a:t>This is one of the strongest strategic layers for hospitality, executive, and public-facing premium environments.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093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AAB0BA"/>
                </a:solidFill>
                <a:latin typeface="Aptos"/>
              </a:rPr>
              <a:t>Sources: WBA OpenRoaming, Wi‑Fi Alliance Passpoint, Tokyo Metro Government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768096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F5F6F8"/>
                </a:solidFill>
                <a:latin typeface="Aptos"/>
              </a:rPr>
              <a:t>Passpoint is designed to automate network discovery and authentication, reducing repeated sign-in friction.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F5F6F8"/>
                </a:solidFill>
                <a:latin typeface="Aptos"/>
              </a:rPr>
              <a:t>WBA says OpenRoaming creates an automatic and secure global Wi‑Fi framework, with Passpoint-enabled networks able to participate.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F5F6F8"/>
                </a:solidFill>
                <a:latin typeface="Aptos"/>
              </a:rPr>
              <a:t>Tokyo signed an MOU with WBA in January 2026 to expand OpenRoaming across the city and described more than 20 million public Wi‑Fi accesses per month.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52560" y="1143000"/>
            <a:ext cx="2560320" cy="4297680"/>
          </a:xfrm>
          <a:prstGeom prst="roundRect">
            <a:avLst/>
          </a:prstGeom>
          <a:solidFill>
            <a:srgbClr val="1A202C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0" y="1417320"/>
            <a:ext cx="201168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i="1">
                <a:solidFill>
                  <a:srgbClr val="BAD2FF"/>
                </a:solidFill>
                <a:latin typeface="Aptos"/>
              </a:rPr>
              <a:t>“Arrival should feel effortless.
That emotional outcome is valuable.”</a:t>
            </a:r>
          </a:p>
          <a:p>
            <a:pPr>
              <a:spcBef>
                <a:spcPts val="1200"/>
              </a:spcBef>
            </a:pPr>
            <a:r>
              <a:rPr sz="1000">
                <a:solidFill>
                  <a:srgbClr val="AAB0BA"/>
                </a:solidFill>
                <a:latin typeface="Aptos"/>
              </a:rPr>
              <a:t>Premium experience principle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778240" y="0"/>
            <a:ext cx="3413455" cy="6858000"/>
          </a:xfrm>
          <a:prstGeom prst="rect">
            <a:avLst/>
          </a:prstGeom>
          <a:solidFill>
            <a:srgbClr val="15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20040"/>
            <a:ext cx="12191695" cy="27432"/>
          </a:xfrm>
          <a:prstGeom prst="rect">
            <a:avLst/>
          </a:prstGeom>
          <a:solidFill>
            <a:srgbClr val="71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7589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6F8"/>
                </a:solidFill>
                <a:latin typeface="Aptos Display"/>
              </a:rPr>
              <a:t>How the moat is built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AAB0BA"/>
                </a:solidFill>
                <a:latin typeface="Aptos"/>
              </a:rPr>
              <a:t>Do not rely on copyright alone. Layer protection across brand, content, process, and confidentiality.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093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AAB0BA"/>
                </a:solidFill>
                <a:latin typeface="Aptos"/>
              </a:rPr>
              <a:t>Sources: U.S. Copyright Office, USPTO, WIPO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7589520" cy="4389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F5F6F8"/>
                </a:solidFill>
                <a:latin typeface="Aptos"/>
              </a:rPr>
              <a:t>Trademark protects the brand name, logo, and signature service names.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F5F6F8"/>
                </a:solidFill>
                <a:latin typeface="Aptos"/>
              </a:rPr>
              <a:t>Copyright protects original copy, visuals, presentations, manuals, and site materials — not ideas, names, titles, or methods.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F5F6F8"/>
                </a:solidFill>
                <a:latin typeface="Aptos"/>
              </a:rPr>
              <a:t>Trade secrets protect internal workflows, deployment logic, partner matrices, pricing models, and scoring systems when kept confidential.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F5F6F8"/>
                </a:solidFill>
                <a:latin typeface="Aptos"/>
              </a:rPr>
              <a:t>Contracts and NDAs help preserve secrecy and reduce partner leakage.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52560" y="1143000"/>
            <a:ext cx="2560320" cy="4297680"/>
          </a:xfrm>
          <a:prstGeom prst="roundRect">
            <a:avLst/>
          </a:prstGeom>
          <a:solidFill>
            <a:srgbClr val="1A202C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0" y="1417320"/>
            <a:ext cx="201168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i="1">
                <a:solidFill>
                  <a:srgbClr val="BAD2FF"/>
                </a:solidFill>
                <a:latin typeface="Aptos"/>
              </a:rPr>
              <a:t>“Protect the expression publicly.
Protect the method privately.”</a:t>
            </a:r>
          </a:p>
          <a:p>
            <a:pPr>
              <a:spcBef>
                <a:spcPts val="1200"/>
              </a:spcBef>
            </a:pPr>
            <a:r>
              <a:rPr sz="1000">
                <a:solidFill>
                  <a:srgbClr val="AAB0BA"/>
                </a:solidFill>
                <a:latin typeface="Aptos"/>
              </a:rPr>
              <a:t>IP strategy rule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778240" y="0"/>
            <a:ext cx="3413455" cy="6858000"/>
          </a:xfrm>
          <a:prstGeom prst="rect">
            <a:avLst/>
          </a:prstGeom>
          <a:solidFill>
            <a:srgbClr val="15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20040"/>
            <a:ext cx="12191695" cy="27432"/>
          </a:xfrm>
          <a:prstGeom prst="rect">
            <a:avLst/>
          </a:prstGeom>
          <a:solidFill>
            <a:srgbClr val="71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7589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6F8"/>
                </a:solidFill>
                <a:latin typeface="Aptos Display"/>
              </a:rPr>
              <a:t>Site architecture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AAB0BA"/>
                </a:solidFill>
                <a:latin typeface="Aptos"/>
              </a:rPr>
              <a:t>Keep the site sparse, premium, and conversion-oriented.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093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AAB0BA"/>
                </a:solidFill>
                <a:latin typeface="Aptos"/>
              </a:rPr>
              <a:t>Internal website recommendation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5303520" cy="4389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F5F6F8"/>
                </a:solidFill>
                <a:latin typeface="Aptos"/>
              </a:rPr>
              <a:t>Home — positioning, emotional promise, entry inquiry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5F6F8"/>
                </a:solidFill>
                <a:latin typeface="Aptos"/>
              </a:rPr>
              <a:t>About the standard — reliability era, not speed theatre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5F6F8"/>
                </a:solidFill>
                <a:latin typeface="Aptos"/>
              </a:rPr>
              <a:t>Private Residence Design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5F6F8"/>
                </a:solidFill>
                <a:latin typeface="Aptos"/>
              </a:rPr>
              <a:t>Hospitality / Guest Experience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5F6F8"/>
                </a:solidFill>
                <a:latin typeface="Aptos"/>
              </a:rPr>
              <a:t>Seamless Access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5F6F8"/>
                </a:solidFill>
                <a:latin typeface="Aptos"/>
              </a:rPr>
              <a:t>Care Plans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5F6F8"/>
                </a:solidFill>
                <a:latin typeface="Aptos"/>
              </a:rPr>
              <a:t>Journal / Insight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5F6F8"/>
                </a:solidFill>
                <a:latin typeface="Aptos"/>
              </a:rPr>
              <a:t>Private Inquiry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52560" y="1143000"/>
            <a:ext cx="2560320" cy="4297680"/>
          </a:xfrm>
          <a:prstGeom prst="roundRect">
            <a:avLst/>
          </a:prstGeom>
          <a:solidFill>
            <a:srgbClr val="1A202C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0" y="1417320"/>
            <a:ext cx="201168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i="1">
                <a:solidFill>
                  <a:srgbClr val="BAD2FF"/>
                </a:solidFill>
                <a:latin typeface="Aptos"/>
              </a:rPr>
              <a:t>“Less pages. Higher signal. Stronger authority.”</a:t>
            </a:r>
          </a:p>
          <a:p>
            <a:pPr>
              <a:spcBef>
                <a:spcPts val="1200"/>
              </a:spcBef>
            </a:pPr>
            <a:r>
              <a:rPr sz="1000">
                <a:solidFill>
                  <a:srgbClr val="AAB0BA"/>
                </a:solidFill>
                <a:latin typeface="Aptos"/>
              </a:rPr>
              <a:t>Editorial rule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778240" y="0"/>
            <a:ext cx="3413455" cy="6858000"/>
          </a:xfrm>
          <a:prstGeom prst="rect">
            <a:avLst/>
          </a:prstGeom>
          <a:solidFill>
            <a:srgbClr val="15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20040"/>
            <a:ext cx="12191695" cy="27432"/>
          </a:xfrm>
          <a:prstGeom prst="rect">
            <a:avLst/>
          </a:prstGeom>
          <a:solidFill>
            <a:srgbClr val="71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7589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6F8"/>
                </a:solidFill>
                <a:latin typeface="Aptos Display"/>
              </a:rPr>
              <a:t>Launch voice and visual language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AAB0BA"/>
                </a:solidFill>
                <a:latin typeface="Aptos"/>
              </a:rPr>
              <a:t>Minimal. Assured. Design-led. Never noisy.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093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AAB0BA"/>
                </a:solidFill>
                <a:latin typeface="Aptos"/>
              </a:rPr>
              <a:t>Internal creative direction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7498079" cy="4389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F5F6F8"/>
                </a:solidFill>
                <a:latin typeface="Aptos"/>
              </a:rPr>
              <a:t>Tone: calm, sparse, assured, discreet, premium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F5F6F8"/>
                </a:solidFill>
                <a:latin typeface="Aptos"/>
              </a:rPr>
              <a:t>Visuals: architectural interiors, close details, disciplined whitespace, warm neutrals, graphite, soft metallic accents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F5F6F8"/>
                </a:solidFill>
                <a:latin typeface="Aptos"/>
              </a:rPr>
              <a:t>Language rule: replace jargon with coverage, stability, consistency, seamless movement, uninterrupted calls, and private support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F5F6F8"/>
                </a:solidFill>
                <a:latin typeface="Aptos"/>
              </a:rPr>
              <a:t>Public hero option: “Not faster on paper. Better where life happens.”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52560" y="1143000"/>
            <a:ext cx="2560320" cy="4297680"/>
          </a:xfrm>
          <a:prstGeom prst="roundRect">
            <a:avLst/>
          </a:prstGeom>
          <a:solidFill>
            <a:srgbClr val="1A202C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0" y="1417320"/>
            <a:ext cx="201168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i="1">
                <a:solidFill>
                  <a:srgbClr val="BAD2FF"/>
                </a:solidFill>
                <a:latin typeface="Aptos"/>
              </a:rPr>
              <a:t>“A luxury infrastructure brand should feel quiet, not technical.”</a:t>
            </a:r>
          </a:p>
          <a:p>
            <a:pPr>
              <a:spcBef>
                <a:spcPts val="1200"/>
              </a:spcBef>
            </a:pPr>
            <a:r>
              <a:rPr sz="1000">
                <a:solidFill>
                  <a:srgbClr val="AAB0BA"/>
                </a:solidFill>
                <a:latin typeface="Aptos"/>
              </a:rPr>
              <a:t>Creative principle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778240" y="0"/>
            <a:ext cx="3413455" cy="6858000"/>
          </a:xfrm>
          <a:prstGeom prst="rect">
            <a:avLst/>
          </a:prstGeom>
          <a:solidFill>
            <a:srgbClr val="15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20040"/>
            <a:ext cx="12191695" cy="27432"/>
          </a:xfrm>
          <a:prstGeom prst="rect">
            <a:avLst/>
          </a:prstGeom>
          <a:solidFill>
            <a:srgbClr val="71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7589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6F8"/>
                </a:solidFill>
                <a:latin typeface="Aptos Display"/>
              </a:rPr>
              <a:t>Build stack preview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AAB0BA"/>
                </a:solidFill>
                <a:latin typeface="Aptos"/>
              </a:rPr>
              <a:t>Suggested execution architecture for design, site, operations, and controlled content workflows.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093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AAB0BA"/>
                </a:solidFill>
                <a:latin typeface="Aptos"/>
              </a:rPr>
              <a:t>Implementation suggestions — not vendor commitments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7498079" cy="4389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F5F6F8"/>
                </a:solidFill>
                <a:latin typeface="Aptos"/>
              </a:rPr>
              <a:t>Brand layer: identity system, copy system, image direction, legal naming clearance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F5F6F8"/>
                </a:solidFill>
                <a:latin typeface="Aptos"/>
              </a:rPr>
              <a:t>Site layer: premium front-end, clean CMS, fast hosting, analytics, inquiry capture, policy pages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F5F6F8"/>
                </a:solidFill>
                <a:latin typeface="Aptos"/>
              </a:rPr>
              <a:t>Sales layer: intake form, qualification flow, proposal deck, assessment report, NDA sequence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F5F6F8"/>
                </a:solidFill>
                <a:latin typeface="Aptos"/>
              </a:rPr>
              <a:t>Operations layer: partner standards, install checklist, care-plan workflow, update calendar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F5F6F8"/>
                </a:solidFill>
                <a:latin typeface="Aptos"/>
              </a:rPr>
              <a:t>Content layer: launch page, three authority articles, venue and residence service pages, premium FAQ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52560" y="1143000"/>
            <a:ext cx="2560320" cy="4297680"/>
          </a:xfrm>
          <a:prstGeom prst="roundRect">
            <a:avLst/>
          </a:prstGeom>
          <a:solidFill>
            <a:srgbClr val="1A202C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0" y="1417320"/>
            <a:ext cx="201168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i="1">
                <a:solidFill>
                  <a:srgbClr val="BAD2FF"/>
                </a:solidFill>
                <a:latin typeface="Aptos"/>
              </a:rPr>
              <a:t>“Build the system so code, content, and operations move together.”</a:t>
            </a:r>
          </a:p>
          <a:p>
            <a:pPr>
              <a:spcBef>
                <a:spcPts val="1200"/>
              </a:spcBef>
            </a:pPr>
            <a:r>
              <a:rPr sz="1000">
                <a:solidFill>
                  <a:srgbClr val="AAB0BA"/>
                </a:solidFill>
                <a:latin typeface="Aptos"/>
              </a:rPr>
              <a:t>Infrastructure principle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778240" y="0"/>
            <a:ext cx="3413455" cy="6858000"/>
          </a:xfrm>
          <a:prstGeom prst="rect">
            <a:avLst/>
          </a:prstGeom>
          <a:solidFill>
            <a:srgbClr val="15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20040"/>
            <a:ext cx="12191695" cy="27432"/>
          </a:xfrm>
          <a:prstGeom prst="rect">
            <a:avLst/>
          </a:prstGeom>
          <a:solidFill>
            <a:srgbClr val="71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7589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6F8"/>
                </a:solidFill>
                <a:latin typeface="Aptos Display"/>
              </a:rPr>
              <a:t>Immediate release sequence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AAB0BA"/>
                </a:solidFill>
                <a:latin typeface="Aptos"/>
              </a:rPr>
              <a:t>A controlled first-wave rollout with clear priorities.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093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AAB0BA"/>
                </a:solidFill>
                <a:latin typeface="Aptos"/>
              </a:rPr>
              <a:t>Internal launch recommendation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7589520" cy="4389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F5F6F8"/>
                </a:solidFill>
                <a:latin typeface="Aptos"/>
              </a:rPr>
              <a:t>1. Finalise brand name candidates and legal clearance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F5F6F8"/>
                </a:solidFill>
                <a:latin typeface="Aptos"/>
              </a:rPr>
              <a:t>2. Lock homepage message and flagship offer names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F5F6F8"/>
                </a:solidFill>
                <a:latin typeface="Aptos"/>
              </a:rPr>
              <a:t>3. Build private inquiry flow and proposal template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F5F6F8"/>
                </a:solidFill>
                <a:latin typeface="Aptos"/>
              </a:rPr>
              <a:t>4. Launch site v1 with one authority article and one service page cluster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F5F6F8"/>
                </a:solidFill>
                <a:latin typeface="Aptos"/>
              </a:rPr>
              <a:t>5. Start with assessment-led sales, then expand into implementation and care plans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F5F6F8"/>
                </a:solidFill>
                <a:latin typeface="Aptos"/>
              </a:rPr>
              <a:t>6. Keep workflow logic, partner matrix, and pricing intelligence private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52560" y="1143000"/>
            <a:ext cx="2560320" cy="4297680"/>
          </a:xfrm>
          <a:prstGeom prst="roundRect">
            <a:avLst/>
          </a:prstGeom>
          <a:solidFill>
            <a:srgbClr val="1A202C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0" y="1417320"/>
            <a:ext cx="201168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i="1">
                <a:solidFill>
                  <a:srgbClr val="BAD2FF"/>
                </a:solidFill>
                <a:latin typeface="Aptos"/>
              </a:rPr>
              <a:t>“Launch the authority layer first.
Scale the engine behind it second.”</a:t>
            </a:r>
          </a:p>
          <a:p>
            <a:pPr>
              <a:spcBef>
                <a:spcPts val="1200"/>
              </a:spcBef>
            </a:pPr>
            <a:r>
              <a:rPr sz="1000">
                <a:solidFill>
                  <a:srgbClr val="AAB0BA"/>
                </a:solidFill>
                <a:latin typeface="Aptos"/>
              </a:rPr>
              <a:t>Release rule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778240" y="0"/>
            <a:ext cx="3413455" cy="6858000"/>
          </a:xfrm>
          <a:prstGeom prst="rect">
            <a:avLst/>
          </a:prstGeom>
          <a:solidFill>
            <a:srgbClr val="15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20040"/>
            <a:ext cx="12191695" cy="27432"/>
          </a:xfrm>
          <a:prstGeom prst="rect">
            <a:avLst/>
          </a:prstGeom>
          <a:solidFill>
            <a:srgbClr val="71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7589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6F8"/>
                </a:solidFill>
                <a:latin typeface="Aptos Display"/>
              </a:rPr>
              <a:t>Appendix: source set used in this preview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AAB0BA"/>
                </a:solidFill>
                <a:latin typeface="Aptos"/>
              </a:rPr>
              <a:t>Public facts should stay tied to verifiable material.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093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AAB0BA"/>
                </a:solidFill>
                <a:latin typeface="Aptos"/>
              </a:rPr>
              <a:t>Cited research sources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7772400" cy="4389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F5F6F8"/>
                </a:solidFill>
                <a:latin typeface="Aptos"/>
              </a:rPr>
              <a:t>Express — “Huge Wi‑Fi upgrade confirmed...” (June 2026)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F5F6F8"/>
                </a:solidFill>
                <a:latin typeface="Aptos"/>
              </a:rPr>
              <a:t>TP‑Link — Archer 8 press release (May 2026)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F5F6F8"/>
                </a:solidFill>
                <a:latin typeface="Aptos"/>
              </a:rPr>
              <a:t>Qualcomm — Wi‑Fi 8 portfolio press release (March 2026)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F5F6F8"/>
                </a:solidFill>
                <a:latin typeface="Aptos"/>
              </a:rPr>
              <a:t>Wireless Broadband Alliance — 2026 Wi‑Fi predictions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F5F6F8"/>
                </a:solidFill>
                <a:latin typeface="Aptos"/>
              </a:rPr>
              <a:t>WBA OpenRoaming overview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F5F6F8"/>
                </a:solidFill>
                <a:latin typeface="Aptos"/>
              </a:rPr>
              <a:t>Tokyo Metropolitan Government — OpenRoaming partnership announcement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F5F6F8"/>
                </a:solidFill>
                <a:latin typeface="Aptos"/>
              </a:rPr>
              <a:t>Wi‑Fi Alliance — Wi‑Fi CERTIFIED 7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F5F6F8"/>
                </a:solidFill>
                <a:latin typeface="Aptos"/>
              </a:rPr>
              <a:t>Wi‑Fi Alliance — Passpoint / Access overview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F5F6F8"/>
                </a:solidFill>
                <a:latin typeface="Aptos"/>
              </a:rPr>
              <a:t>U.S. Copyright Office FAQ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F5F6F8"/>
                </a:solidFill>
                <a:latin typeface="Aptos"/>
              </a:rPr>
              <a:t>USPTO trademark basics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F5F6F8"/>
                </a:solidFill>
                <a:latin typeface="Aptos"/>
              </a:rPr>
              <a:t>WIPO trade secrets overview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52560" y="1143000"/>
            <a:ext cx="2560320" cy="4297680"/>
          </a:xfrm>
          <a:prstGeom prst="roundRect">
            <a:avLst/>
          </a:prstGeom>
          <a:solidFill>
            <a:srgbClr val="1A202C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0" y="1417320"/>
            <a:ext cx="201168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i="1">
                <a:solidFill>
                  <a:srgbClr val="BAD2FF"/>
                </a:solidFill>
                <a:latin typeface="Aptos"/>
              </a:rPr>
              <a:t>“Keep public claims disciplined.
Keep private strategy deeper than public copy.”</a:t>
            </a:r>
          </a:p>
          <a:p>
            <a:pPr>
              <a:spcBef>
                <a:spcPts val="1200"/>
              </a:spcBef>
            </a:pPr>
            <a:r>
              <a:rPr sz="1000">
                <a:solidFill>
                  <a:srgbClr val="AAB0BA"/>
                </a:solidFill>
                <a:latin typeface="Aptos"/>
              </a:rPr>
              <a:t>Final operating rule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